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Stinger Wide Bold" charset="1" panose="00000800000000000000"/>
      <p:regular r:id="rId19"/>
    </p:embeddedFont>
    <p:embeddedFont>
      <p:font typeface="Open Sans" charset="1" panose="020B0606030504020204"/>
      <p:regular r:id="rId20"/>
    </p:embeddedFont>
    <p:embeddedFont>
      <p:font typeface="Codec Pro Bold" charset="1" panose="00000600000000000000"/>
      <p:regular r:id="rId21"/>
    </p:embeddedFont>
    <p:embeddedFont>
      <p:font typeface="Codec Pro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.png" Type="http://schemas.openxmlformats.org/officeDocument/2006/relationships/image"/><Relationship Id="rId7" Target="../media/image2.pn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13.png" Type="http://schemas.openxmlformats.org/officeDocument/2006/relationships/image"/><Relationship Id="rId7" Target="../embeddings/oleObject1.bin" Type="http://schemas.openxmlformats.org/officeDocument/2006/relationships/oleObjec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14.png" Type="http://schemas.openxmlformats.org/officeDocument/2006/relationships/image"/><Relationship Id="rId7" Target="../embeddings/oleObject2.bin" Type="http://schemas.openxmlformats.org/officeDocument/2006/relationships/oleObjec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embeddings/oleObject3.bin" Type="http://schemas.openxmlformats.org/officeDocument/2006/relationships/oleObjec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39749" y="2482062"/>
            <a:ext cx="7238619" cy="8229600"/>
          </a:xfrm>
          <a:custGeom>
            <a:avLst/>
            <a:gdLst/>
            <a:ahLst/>
            <a:cxnLst/>
            <a:rect r="r" b="b" t="t" l="l"/>
            <a:pathLst>
              <a:path h="8229600" w="7238619">
                <a:moveTo>
                  <a:pt x="0" y="0"/>
                </a:moveTo>
                <a:lnTo>
                  <a:pt x="7238619" y="0"/>
                </a:lnTo>
                <a:lnTo>
                  <a:pt x="723861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02861" y="4112027"/>
            <a:ext cx="5054215" cy="6330958"/>
          </a:xfrm>
          <a:custGeom>
            <a:avLst/>
            <a:gdLst/>
            <a:ahLst/>
            <a:cxnLst/>
            <a:rect r="r" b="b" t="t" l="l"/>
            <a:pathLst>
              <a:path h="6330958" w="5054215">
                <a:moveTo>
                  <a:pt x="0" y="0"/>
                </a:moveTo>
                <a:lnTo>
                  <a:pt x="5054215" y="0"/>
                </a:lnTo>
                <a:lnTo>
                  <a:pt x="5054215" y="6330958"/>
                </a:lnTo>
                <a:lnTo>
                  <a:pt x="0" y="6330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52607" y="2315605"/>
            <a:ext cx="12086224" cy="5237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76"/>
              </a:lnSpc>
            </a:pPr>
            <a:r>
              <a:rPr lang="en-US" sz="13892" b="true">
                <a:solidFill>
                  <a:srgbClr val="143F87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Brazo Robotico pick up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3921125">
            <a:off x="-1351009" y="-1529351"/>
            <a:ext cx="5550511" cy="5550511"/>
          </a:xfrm>
          <a:custGeom>
            <a:avLst/>
            <a:gdLst/>
            <a:ahLst/>
            <a:cxnLst/>
            <a:rect r="r" b="b" t="t" l="l"/>
            <a:pathLst>
              <a:path h="5550511" w="5550511">
                <a:moveTo>
                  <a:pt x="0" y="0"/>
                </a:moveTo>
                <a:lnTo>
                  <a:pt x="5550511" y="0"/>
                </a:lnTo>
                <a:lnTo>
                  <a:pt x="5550511" y="5550511"/>
                </a:lnTo>
                <a:lnTo>
                  <a:pt x="0" y="55505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880430" y="-1632738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686266" y="7984301"/>
            <a:ext cx="6915468" cy="97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07"/>
              </a:lnSpc>
            </a:pPr>
            <a:r>
              <a:rPr lang="en-US" sz="5648">
                <a:solidFill>
                  <a:srgbClr val="1D1C1A"/>
                </a:solidFill>
                <a:latin typeface="Open Sans"/>
                <a:ea typeface="Open Sans"/>
                <a:cs typeface="Open Sans"/>
                <a:sym typeface="Open Sans"/>
              </a:rPr>
              <a:t>Sistemas embebidos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12640" y="2543721"/>
            <a:ext cx="14262720" cy="2364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</a:pPr>
            <a:r>
              <a:rPr lang="en-US" b="true" sz="3299" spc="36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Mateo Gabriel Mejia Muñoz</a:t>
            </a:r>
          </a:p>
          <a:p>
            <a:pPr algn="ctr">
              <a:lnSpc>
                <a:spcPts val="4619"/>
              </a:lnSpc>
            </a:pPr>
            <a:r>
              <a:rPr lang="en-US" b="true" sz="3299" spc="36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Marifer Sánchez Rodriguez</a:t>
            </a:r>
          </a:p>
          <a:p>
            <a:pPr algn="ctr">
              <a:lnSpc>
                <a:spcPts val="4619"/>
              </a:lnSpc>
            </a:pPr>
            <a:r>
              <a:rPr lang="en-US" b="true" sz="3299" spc="36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Angel Gabriel Chaparro De Jesús</a:t>
            </a:r>
          </a:p>
          <a:p>
            <a:pPr algn="ctr">
              <a:lnSpc>
                <a:spcPts val="4619"/>
              </a:lnSpc>
            </a:pPr>
            <a:r>
              <a:rPr lang="en-US" b="true" sz="3299" spc="36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Samantha Yuleni Cardenas Villegas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2571653">
            <a:off x="16043607" y="1949665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21875" y="6598087"/>
            <a:ext cx="3969133" cy="4512515"/>
          </a:xfrm>
          <a:custGeom>
            <a:avLst/>
            <a:gdLst/>
            <a:ahLst/>
            <a:cxnLst/>
            <a:rect r="r" b="b" t="t" l="l"/>
            <a:pathLst>
              <a:path h="4512515" w="3969133">
                <a:moveTo>
                  <a:pt x="0" y="0"/>
                </a:moveTo>
                <a:lnTo>
                  <a:pt x="3969132" y="0"/>
                </a:lnTo>
                <a:lnTo>
                  <a:pt x="3969132" y="4512515"/>
                </a:lnTo>
                <a:lnTo>
                  <a:pt x="0" y="4512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11425" y="6598087"/>
            <a:ext cx="3280251" cy="4108874"/>
          </a:xfrm>
          <a:custGeom>
            <a:avLst/>
            <a:gdLst/>
            <a:ahLst/>
            <a:cxnLst/>
            <a:rect r="r" b="b" t="t" l="l"/>
            <a:pathLst>
              <a:path h="4108874" w="3280251">
                <a:moveTo>
                  <a:pt x="0" y="0"/>
                </a:moveTo>
                <a:lnTo>
                  <a:pt x="3280250" y="0"/>
                </a:lnTo>
                <a:lnTo>
                  <a:pt x="3280250" y="4108874"/>
                </a:lnTo>
                <a:lnTo>
                  <a:pt x="0" y="41088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921125">
            <a:off x="12766498" y="-1741514"/>
            <a:ext cx="5550511" cy="5550511"/>
          </a:xfrm>
          <a:custGeom>
            <a:avLst/>
            <a:gdLst/>
            <a:ahLst/>
            <a:cxnLst/>
            <a:rect r="r" b="b" t="t" l="l"/>
            <a:pathLst>
              <a:path h="5550511" w="5550511">
                <a:moveTo>
                  <a:pt x="0" y="0"/>
                </a:moveTo>
                <a:lnTo>
                  <a:pt x="5550511" y="0"/>
                </a:lnTo>
                <a:lnTo>
                  <a:pt x="5550511" y="5550511"/>
                </a:lnTo>
                <a:lnTo>
                  <a:pt x="0" y="555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-710214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571653">
            <a:off x="-3050082" y="2465162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166210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0" y="0"/>
                </a:moveTo>
                <a:lnTo>
                  <a:pt x="4647276" y="0"/>
                </a:lnTo>
                <a:lnTo>
                  <a:pt x="4647276" y="3099786"/>
                </a:lnTo>
                <a:lnTo>
                  <a:pt x="0" y="30997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871030" y="1191327"/>
            <a:ext cx="6883975" cy="934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84"/>
              </a:lnSpc>
            </a:pPr>
            <a:r>
              <a:rPr lang="en-US" sz="7200" b="true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Equipo</a:t>
            </a:r>
          </a:p>
        </p:txBody>
      </p:sp>
      <p:sp>
        <p:nvSpPr>
          <p:cNvPr name="Freeform 11" id="11"/>
          <p:cNvSpPr/>
          <p:nvPr/>
        </p:nvSpPr>
        <p:spPr>
          <a:xfrm flipH="true" flipV="false" rot="0">
            <a:off x="3281798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4647276" y="0"/>
                </a:moveTo>
                <a:lnTo>
                  <a:pt x="0" y="0"/>
                </a:lnTo>
                <a:lnTo>
                  <a:pt x="0" y="3099786"/>
                </a:lnTo>
                <a:lnTo>
                  <a:pt x="4647276" y="3099786"/>
                </a:lnTo>
                <a:lnTo>
                  <a:pt x="4647276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39315" y="1167092"/>
            <a:ext cx="7209370" cy="90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 b="true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Introducción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051282" y="2340551"/>
            <a:ext cx="10185436" cy="6311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20"/>
              </a:lnSpc>
            </a:pPr>
            <a:r>
              <a:rPr lang="en-US" sz="2372" spc="2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El proyecto consiste en desarrollar un brazo robótico pick and place, capaz de sujetar objetos pequeños y trasladarlos de una posición a otra. Su estructura se fabricará mediante impresión 3D y contará con cuatro servomotores SG90M y dos MG996R</a:t>
            </a:r>
            <a:r>
              <a:rPr lang="en-US" sz="2372" spc="2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para accionar sus articulaciones y pinza.</a:t>
            </a:r>
          </a:p>
          <a:p>
            <a:pPr algn="just">
              <a:lnSpc>
                <a:spcPts val="3320"/>
              </a:lnSpc>
            </a:pPr>
            <a:r>
              <a:rPr lang="en-US" sz="2372" spc="2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El usuario controlará sus movimientos desde una aplicación móvil desarrollada en MIT App Inventor. Las instrucciones se enviarán mediante Bluetooth al microcontrolador STM32F407VGTX, que las procesará y generará las señales necesarias para controlar los servomotores.</a:t>
            </a:r>
          </a:p>
          <a:p>
            <a:pPr algn="just">
              <a:lnSpc>
                <a:spcPts val="3320"/>
              </a:lnSpc>
            </a:pPr>
            <a:r>
              <a:rPr lang="en-US" sz="2372" spc="2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Con este prototipo se busca aplicar los conocimientos de Sistemas Embebidos e integrar el diseño mecánico con la electrónica y la programación, para comprender el funcionamiento de un sistema robótico de manipulación de objetos.</a:t>
            </a:r>
          </a:p>
          <a:p>
            <a:pPr algn="just">
              <a:lnSpc>
                <a:spcPts val="332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2571653">
            <a:off x="16043607" y="1949665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21875" y="6598087"/>
            <a:ext cx="3969133" cy="4512515"/>
          </a:xfrm>
          <a:custGeom>
            <a:avLst/>
            <a:gdLst/>
            <a:ahLst/>
            <a:cxnLst/>
            <a:rect r="r" b="b" t="t" l="l"/>
            <a:pathLst>
              <a:path h="4512515" w="3969133">
                <a:moveTo>
                  <a:pt x="0" y="0"/>
                </a:moveTo>
                <a:lnTo>
                  <a:pt x="3969132" y="0"/>
                </a:lnTo>
                <a:lnTo>
                  <a:pt x="3969132" y="4512515"/>
                </a:lnTo>
                <a:lnTo>
                  <a:pt x="0" y="4512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11425" y="6598087"/>
            <a:ext cx="3280251" cy="4108874"/>
          </a:xfrm>
          <a:custGeom>
            <a:avLst/>
            <a:gdLst/>
            <a:ahLst/>
            <a:cxnLst/>
            <a:rect r="r" b="b" t="t" l="l"/>
            <a:pathLst>
              <a:path h="4108874" w="3280251">
                <a:moveTo>
                  <a:pt x="0" y="0"/>
                </a:moveTo>
                <a:lnTo>
                  <a:pt x="3280250" y="0"/>
                </a:lnTo>
                <a:lnTo>
                  <a:pt x="3280250" y="4108874"/>
                </a:lnTo>
                <a:lnTo>
                  <a:pt x="0" y="41088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3921125">
            <a:off x="12766498" y="-1741514"/>
            <a:ext cx="5550511" cy="5550511"/>
          </a:xfrm>
          <a:custGeom>
            <a:avLst/>
            <a:gdLst/>
            <a:ahLst/>
            <a:cxnLst/>
            <a:rect r="r" b="b" t="t" l="l"/>
            <a:pathLst>
              <a:path h="5550511" w="5550511">
                <a:moveTo>
                  <a:pt x="0" y="0"/>
                </a:moveTo>
                <a:lnTo>
                  <a:pt x="5550511" y="0"/>
                </a:lnTo>
                <a:lnTo>
                  <a:pt x="5550511" y="5550511"/>
                </a:lnTo>
                <a:lnTo>
                  <a:pt x="0" y="555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-710214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571653">
            <a:off x="-3050082" y="2465162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166210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0" y="0"/>
                </a:moveTo>
                <a:lnTo>
                  <a:pt x="4647276" y="0"/>
                </a:lnTo>
                <a:lnTo>
                  <a:pt x="4647276" y="3099786"/>
                </a:lnTo>
                <a:lnTo>
                  <a:pt x="0" y="30997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3281798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4647276" y="0"/>
                </a:moveTo>
                <a:lnTo>
                  <a:pt x="0" y="0"/>
                </a:lnTo>
                <a:lnTo>
                  <a:pt x="0" y="3099786"/>
                </a:lnTo>
                <a:lnTo>
                  <a:pt x="4647276" y="3099786"/>
                </a:lnTo>
                <a:lnTo>
                  <a:pt x="4647276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24441" y="1742370"/>
            <a:ext cx="5491851" cy="677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5"/>
              </a:lnSpc>
            </a:pPr>
            <a:r>
              <a:rPr lang="en-US" sz="5159" b="true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Problemática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360054" y="2553332"/>
            <a:ext cx="7810681" cy="2540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20"/>
              </a:lnSpc>
            </a:pPr>
            <a:r>
              <a:rPr lang="en-US" sz="2372" spc="2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En l</a:t>
            </a:r>
            <a:r>
              <a:rPr lang="en-US" sz="2372" spc="2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os procesos industriales, el traslado y la manipulación repetitiva de objetos pueden requerir tiempo, esfuerzo humano y movimientos constantes. Estas tareas pueden automatizarse mediante sistemas robóticos que ejecuten movimientos definidos.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2571653">
            <a:off x="16043607" y="1949665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21875" y="6598087"/>
            <a:ext cx="3969133" cy="4512515"/>
          </a:xfrm>
          <a:custGeom>
            <a:avLst/>
            <a:gdLst/>
            <a:ahLst/>
            <a:cxnLst/>
            <a:rect r="r" b="b" t="t" l="l"/>
            <a:pathLst>
              <a:path h="4512515" w="3969133">
                <a:moveTo>
                  <a:pt x="0" y="0"/>
                </a:moveTo>
                <a:lnTo>
                  <a:pt x="3969132" y="0"/>
                </a:lnTo>
                <a:lnTo>
                  <a:pt x="3969132" y="4512515"/>
                </a:lnTo>
                <a:lnTo>
                  <a:pt x="0" y="4512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11425" y="6598087"/>
            <a:ext cx="3280251" cy="4108874"/>
          </a:xfrm>
          <a:custGeom>
            <a:avLst/>
            <a:gdLst/>
            <a:ahLst/>
            <a:cxnLst/>
            <a:rect r="r" b="b" t="t" l="l"/>
            <a:pathLst>
              <a:path h="4108874" w="3280251">
                <a:moveTo>
                  <a:pt x="0" y="0"/>
                </a:moveTo>
                <a:lnTo>
                  <a:pt x="3280250" y="0"/>
                </a:lnTo>
                <a:lnTo>
                  <a:pt x="3280250" y="4108874"/>
                </a:lnTo>
                <a:lnTo>
                  <a:pt x="0" y="41088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3921125">
            <a:off x="12766498" y="-1741514"/>
            <a:ext cx="5550511" cy="5550511"/>
          </a:xfrm>
          <a:custGeom>
            <a:avLst/>
            <a:gdLst/>
            <a:ahLst/>
            <a:cxnLst/>
            <a:rect r="r" b="b" t="t" l="l"/>
            <a:pathLst>
              <a:path h="5550511" w="5550511">
                <a:moveTo>
                  <a:pt x="0" y="0"/>
                </a:moveTo>
                <a:lnTo>
                  <a:pt x="5550511" y="0"/>
                </a:lnTo>
                <a:lnTo>
                  <a:pt x="5550511" y="5550511"/>
                </a:lnTo>
                <a:lnTo>
                  <a:pt x="0" y="555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-710214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571653">
            <a:off x="-3050082" y="2465162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166210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0" y="0"/>
                </a:moveTo>
                <a:lnTo>
                  <a:pt x="4647276" y="0"/>
                </a:lnTo>
                <a:lnTo>
                  <a:pt x="4647276" y="3099786"/>
                </a:lnTo>
                <a:lnTo>
                  <a:pt x="0" y="30997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3281798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4647276" y="0"/>
                </a:moveTo>
                <a:lnTo>
                  <a:pt x="0" y="0"/>
                </a:lnTo>
                <a:lnTo>
                  <a:pt x="0" y="3099786"/>
                </a:lnTo>
                <a:lnTo>
                  <a:pt x="4647276" y="3099786"/>
                </a:lnTo>
                <a:lnTo>
                  <a:pt x="4647276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255523" y="6252959"/>
            <a:ext cx="7466352" cy="3378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20"/>
              </a:lnSpc>
            </a:pPr>
            <a:r>
              <a:rPr lang="en-US" sz="2372" spc="2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El proyecto permitirá aplicar los conocimientos de Sistemas Embebidos mediante la integración del microcontrolador STM32F407VGTX, cuatro servomotores SG90M y dos MG996R. El desarrollo incluirá la programación del control de movimientos y la recepción de instrucciones enviadas por Bluetooth desde una aplicación creada en MIT App Inventor.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85504" y="5426780"/>
            <a:ext cx="5606390" cy="694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6"/>
              </a:lnSpc>
            </a:pPr>
            <a:r>
              <a:rPr lang="en-US" sz="5336" b="true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Justificación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81255" y="851669"/>
            <a:ext cx="8408837" cy="1743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 b="true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Impo</a:t>
            </a:r>
            <a:r>
              <a:rPr lang="en-US" b="true" sz="6846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rtancia del proyecto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093399" y="2710884"/>
            <a:ext cx="11720087" cy="6731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2141" indent="-256071" lvl="1">
              <a:lnSpc>
                <a:spcPts val="3320"/>
              </a:lnSpc>
              <a:buFont typeface="Arial"/>
              <a:buChar char="•"/>
            </a:pPr>
            <a:r>
              <a:rPr lang="en-US" sz="2372" spc="2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El desarrollo de este brazo robótic</a:t>
            </a:r>
            <a:r>
              <a:rPr lang="en-US" sz="2372" spc="2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o permite aplicar los conocimientos de Sistemas Embebidos en un proyecto que integra una estructura mecánica, circuitos electrónicos y programación. Mediante el STM32F407VGTX se controlarán los servomotores para realizar movimientos de sujeción y traslado de objetos pequeños.</a:t>
            </a:r>
          </a:p>
          <a:p>
            <a:pPr algn="l" marL="512141" indent="-256071" lvl="1">
              <a:lnSpc>
                <a:spcPts val="3320"/>
              </a:lnSpc>
              <a:buFont typeface="Arial"/>
              <a:buChar char="•"/>
            </a:pPr>
            <a:r>
              <a:rPr lang="en-US" sz="2372" spc="2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Su importancia también está en c</a:t>
            </a:r>
            <a:r>
              <a:rPr lang="en-US" sz="2372" spc="2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omprender el funcionamiento de los sistemas pick and place, presentes en procesos de automatización como el acomodo de piezas y el ensamblaje. El prototipo permitirá experimentar con la coordinación de las articulaciones y reconocer cómo influyen sus movimientos en la posición de la pinza.</a:t>
            </a:r>
          </a:p>
          <a:p>
            <a:pPr algn="l" marL="512141" indent="-256071" lvl="1">
              <a:lnSpc>
                <a:spcPts val="3320"/>
              </a:lnSpc>
              <a:buFont typeface="Arial"/>
              <a:buChar char="•"/>
            </a:pPr>
            <a:r>
              <a:rPr lang="en-US" sz="2372" spc="2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La aplicación d</a:t>
            </a:r>
            <a:r>
              <a:rPr lang="en-US" sz="2372" spc="2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esarrollada en MIT App Inventor facilitará la interacción del usuario con el brazo y permitirá estudiar cómo se transmiten y ejecutan instrucciones entre un dispositivo móvil y un microcontrolador. Por su parte, la impresión 3D permitirá fabricar las piezas y modificar el diseño conforme se detecten necesidades durante las pruebas.</a:t>
            </a:r>
          </a:p>
          <a:p>
            <a:pPr algn="just">
              <a:lnSpc>
                <a:spcPts val="332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2571653">
            <a:off x="16043607" y="1949665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21875" y="6598087"/>
            <a:ext cx="3969133" cy="4512515"/>
          </a:xfrm>
          <a:custGeom>
            <a:avLst/>
            <a:gdLst/>
            <a:ahLst/>
            <a:cxnLst/>
            <a:rect r="r" b="b" t="t" l="l"/>
            <a:pathLst>
              <a:path h="4512515" w="3969133">
                <a:moveTo>
                  <a:pt x="0" y="0"/>
                </a:moveTo>
                <a:lnTo>
                  <a:pt x="3969132" y="0"/>
                </a:lnTo>
                <a:lnTo>
                  <a:pt x="3969132" y="4512515"/>
                </a:lnTo>
                <a:lnTo>
                  <a:pt x="0" y="4512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11425" y="6598087"/>
            <a:ext cx="3280251" cy="4108874"/>
          </a:xfrm>
          <a:custGeom>
            <a:avLst/>
            <a:gdLst/>
            <a:ahLst/>
            <a:cxnLst/>
            <a:rect r="r" b="b" t="t" l="l"/>
            <a:pathLst>
              <a:path h="4108874" w="3280251">
                <a:moveTo>
                  <a:pt x="0" y="0"/>
                </a:moveTo>
                <a:lnTo>
                  <a:pt x="3280250" y="0"/>
                </a:lnTo>
                <a:lnTo>
                  <a:pt x="3280250" y="4108874"/>
                </a:lnTo>
                <a:lnTo>
                  <a:pt x="0" y="41088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3921125">
            <a:off x="12766498" y="-1741514"/>
            <a:ext cx="5550511" cy="5550511"/>
          </a:xfrm>
          <a:custGeom>
            <a:avLst/>
            <a:gdLst/>
            <a:ahLst/>
            <a:cxnLst/>
            <a:rect r="r" b="b" t="t" l="l"/>
            <a:pathLst>
              <a:path h="5550511" w="5550511">
                <a:moveTo>
                  <a:pt x="0" y="0"/>
                </a:moveTo>
                <a:lnTo>
                  <a:pt x="5550511" y="0"/>
                </a:lnTo>
                <a:lnTo>
                  <a:pt x="5550511" y="5550511"/>
                </a:lnTo>
                <a:lnTo>
                  <a:pt x="0" y="555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-710214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571653">
            <a:off x="-3050082" y="2465162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166210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0" y="0"/>
                </a:moveTo>
                <a:lnTo>
                  <a:pt x="4647276" y="0"/>
                </a:lnTo>
                <a:lnTo>
                  <a:pt x="4647276" y="3099786"/>
                </a:lnTo>
                <a:lnTo>
                  <a:pt x="0" y="30997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3281798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4647276" y="0"/>
                </a:moveTo>
                <a:lnTo>
                  <a:pt x="0" y="0"/>
                </a:lnTo>
                <a:lnTo>
                  <a:pt x="0" y="3099786"/>
                </a:lnTo>
                <a:lnTo>
                  <a:pt x="4647276" y="3099786"/>
                </a:lnTo>
                <a:lnTo>
                  <a:pt x="4647276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5689" y="-1290006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76527" y="1930995"/>
            <a:ext cx="10185436" cy="1701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0"/>
              </a:lnSpc>
            </a:pPr>
            <a:r>
              <a:rPr lang="en-US" sz="2372" spc="2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De</a:t>
            </a:r>
            <a:r>
              <a:rPr lang="en-US" sz="2372" spc="2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sarrollar un brazo robótico pick and place con estructura impresa en 3D, controlado por un microcontrolador STM32F407VGTX y una aplicación móvil creada en MIT App Inventor mediante comunicación Bluetooth, para sujetar y trasladar objetos pequeños.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2571653">
            <a:off x="16043607" y="1949665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813486" y="6730429"/>
            <a:ext cx="3969133" cy="4512515"/>
          </a:xfrm>
          <a:custGeom>
            <a:avLst/>
            <a:gdLst/>
            <a:ahLst/>
            <a:cxnLst/>
            <a:rect r="r" b="b" t="t" l="l"/>
            <a:pathLst>
              <a:path h="4512515" w="3969133">
                <a:moveTo>
                  <a:pt x="0" y="0"/>
                </a:moveTo>
                <a:lnTo>
                  <a:pt x="3969132" y="0"/>
                </a:lnTo>
                <a:lnTo>
                  <a:pt x="3969132" y="4512515"/>
                </a:lnTo>
                <a:lnTo>
                  <a:pt x="0" y="45125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11425" y="6598087"/>
            <a:ext cx="3280251" cy="4108874"/>
          </a:xfrm>
          <a:custGeom>
            <a:avLst/>
            <a:gdLst/>
            <a:ahLst/>
            <a:cxnLst/>
            <a:rect r="r" b="b" t="t" l="l"/>
            <a:pathLst>
              <a:path h="4108874" w="3280251">
                <a:moveTo>
                  <a:pt x="0" y="0"/>
                </a:moveTo>
                <a:lnTo>
                  <a:pt x="3280250" y="0"/>
                </a:lnTo>
                <a:lnTo>
                  <a:pt x="3280250" y="4108874"/>
                </a:lnTo>
                <a:lnTo>
                  <a:pt x="0" y="41088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3921125">
            <a:off x="12766498" y="-1741514"/>
            <a:ext cx="5550511" cy="5550511"/>
          </a:xfrm>
          <a:custGeom>
            <a:avLst/>
            <a:gdLst/>
            <a:ahLst/>
            <a:cxnLst/>
            <a:rect r="r" b="b" t="t" l="l"/>
            <a:pathLst>
              <a:path h="5550511" w="5550511">
                <a:moveTo>
                  <a:pt x="0" y="0"/>
                </a:moveTo>
                <a:lnTo>
                  <a:pt x="5550511" y="0"/>
                </a:lnTo>
                <a:lnTo>
                  <a:pt x="5550511" y="5550511"/>
                </a:lnTo>
                <a:lnTo>
                  <a:pt x="0" y="55505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571653">
            <a:off x="-3050082" y="2465162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166210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0" y="0"/>
                </a:moveTo>
                <a:lnTo>
                  <a:pt x="4647276" y="0"/>
                </a:lnTo>
                <a:lnTo>
                  <a:pt x="4647276" y="3099786"/>
                </a:lnTo>
                <a:lnTo>
                  <a:pt x="0" y="30997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3281798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4647276" y="0"/>
                </a:moveTo>
                <a:lnTo>
                  <a:pt x="0" y="0"/>
                </a:lnTo>
                <a:lnTo>
                  <a:pt x="0" y="3099786"/>
                </a:lnTo>
                <a:lnTo>
                  <a:pt x="4647276" y="3099786"/>
                </a:lnTo>
                <a:lnTo>
                  <a:pt x="4647276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037914" y="4627808"/>
            <a:ext cx="9775572" cy="5659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1533" indent="-245766" lvl="1">
              <a:lnSpc>
                <a:spcPts val="3187"/>
              </a:lnSpc>
              <a:buFont typeface="Arial"/>
              <a:buChar char="•"/>
            </a:pPr>
            <a:r>
              <a:rPr lang="en-US" sz="2276" spc="2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Fab</a:t>
            </a:r>
            <a:r>
              <a:rPr lang="en-US" sz="2276" spc="2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ricar y ensamblar la estructura del brazo y su pinza mediante impresión 3D.</a:t>
            </a:r>
          </a:p>
          <a:p>
            <a:pPr algn="l" marL="491533" indent="-245766" lvl="1">
              <a:lnSpc>
                <a:spcPts val="3187"/>
              </a:lnSpc>
              <a:buFont typeface="Arial"/>
              <a:buChar char="•"/>
            </a:pPr>
            <a:r>
              <a:rPr lang="en-US" sz="2276" spc="2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Integrar cuatro servomotores SG90M y dos MG996R para accionar las articulaciones y la pinza.</a:t>
            </a:r>
          </a:p>
          <a:p>
            <a:pPr algn="l" marL="491533" indent="-245766" lvl="1">
              <a:lnSpc>
                <a:spcPts val="3187"/>
              </a:lnSpc>
              <a:buFont typeface="Arial"/>
              <a:buChar char="•"/>
            </a:pPr>
            <a:r>
              <a:rPr lang="en-US" sz="2276" spc="2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Programar el STM32F407VGTX para recibir instrucciones y generar las señales de control de los servomotores.</a:t>
            </a:r>
          </a:p>
          <a:p>
            <a:pPr algn="l" marL="491533" indent="-245766" lvl="1">
              <a:lnSpc>
                <a:spcPts val="3187"/>
              </a:lnSpc>
              <a:buFont typeface="Arial"/>
              <a:buChar char="•"/>
            </a:pPr>
            <a:r>
              <a:rPr lang="en-US" sz="2276" spc="2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Desarrollar una aplicación en MIT App Inventor que permita al usuario controlar los movimientos del brazo.</a:t>
            </a:r>
          </a:p>
          <a:p>
            <a:pPr algn="l" marL="491533" indent="-245766" lvl="1">
              <a:lnSpc>
                <a:spcPts val="3187"/>
              </a:lnSpc>
              <a:buFont typeface="Arial"/>
              <a:buChar char="•"/>
            </a:pPr>
            <a:r>
              <a:rPr lang="en-US" sz="2276" spc="2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Establecer la comunicación Bluetooth entre la aplicación móvil y el microcontrolador.</a:t>
            </a:r>
          </a:p>
          <a:p>
            <a:pPr algn="l" marL="491533" indent="-245766" lvl="1">
              <a:lnSpc>
                <a:spcPts val="3187"/>
              </a:lnSpc>
              <a:buFont typeface="Arial"/>
              <a:buChar char="•"/>
            </a:pPr>
            <a:r>
              <a:rPr lang="en-US" sz="2276" spc="25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Realizar pruebas de sujeción y traslado de objetos pequeños para evaluar el funcionamiento del prototipo y ajustar sus movimientos.</a:t>
            </a:r>
          </a:p>
          <a:p>
            <a:pPr algn="l">
              <a:lnSpc>
                <a:spcPts val="3187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281798" y="1109942"/>
            <a:ext cx="4963819" cy="479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5"/>
              </a:lnSpc>
            </a:pPr>
            <a:r>
              <a:rPr lang="en-US" sz="3665" b="true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Obj</a:t>
            </a:r>
            <a:r>
              <a:rPr lang="en-US" b="true" sz="3665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etivo general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12474" y="4159395"/>
            <a:ext cx="5907472" cy="479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5"/>
              </a:lnSpc>
            </a:pPr>
            <a:r>
              <a:rPr lang="en-US" sz="3665" b="true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Obj</a:t>
            </a:r>
            <a:r>
              <a:rPr lang="en-US" b="true" sz="3665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etivos especificso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571653">
            <a:off x="16043607" y="1949665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21875" y="6598087"/>
            <a:ext cx="3969133" cy="4512515"/>
          </a:xfrm>
          <a:custGeom>
            <a:avLst/>
            <a:gdLst/>
            <a:ahLst/>
            <a:cxnLst/>
            <a:rect r="r" b="b" t="t" l="l"/>
            <a:pathLst>
              <a:path h="4512515" w="3969133">
                <a:moveTo>
                  <a:pt x="0" y="0"/>
                </a:moveTo>
                <a:lnTo>
                  <a:pt x="3969132" y="0"/>
                </a:lnTo>
                <a:lnTo>
                  <a:pt x="3969132" y="4512515"/>
                </a:lnTo>
                <a:lnTo>
                  <a:pt x="0" y="4512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11425" y="6598087"/>
            <a:ext cx="3280251" cy="4108874"/>
          </a:xfrm>
          <a:custGeom>
            <a:avLst/>
            <a:gdLst/>
            <a:ahLst/>
            <a:cxnLst/>
            <a:rect r="r" b="b" t="t" l="l"/>
            <a:pathLst>
              <a:path h="4108874" w="3280251">
                <a:moveTo>
                  <a:pt x="0" y="0"/>
                </a:moveTo>
                <a:lnTo>
                  <a:pt x="3280250" y="0"/>
                </a:lnTo>
                <a:lnTo>
                  <a:pt x="3280250" y="4108874"/>
                </a:lnTo>
                <a:lnTo>
                  <a:pt x="0" y="41088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921125">
            <a:off x="13313817" y="-1458418"/>
            <a:ext cx="5550511" cy="5550511"/>
          </a:xfrm>
          <a:custGeom>
            <a:avLst/>
            <a:gdLst/>
            <a:ahLst/>
            <a:cxnLst/>
            <a:rect r="r" b="b" t="t" l="l"/>
            <a:pathLst>
              <a:path h="5550511" w="5550511">
                <a:moveTo>
                  <a:pt x="0" y="0"/>
                </a:moveTo>
                <a:lnTo>
                  <a:pt x="5550511" y="0"/>
                </a:lnTo>
                <a:lnTo>
                  <a:pt x="5550511" y="5550511"/>
                </a:lnTo>
                <a:lnTo>
                  <a:pt x="0" y="555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-710214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571653">
            <a:off x="-3050082" y="2465162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931724" y="1955059"/>
            <a:ext cx="6477558" cy="7823028"/>
          </a:xfrm>
          <a:custGeom>
            <a:avLst/>
            <a:gdLst/>
            <a:ahLst/>
            <a:cxnLst/>
            <a:rect r="r" b="b" t="t" l="l"/>
            <a:pathLst>
              <a:path h="7823028" w="6477558">
                <a:moveTo>
                  <a:pt x="0" y="0"/>
                </a:moveTo>
                <a:lnTo>
                  <a:pt x="6477558" y="0"/>
                </a:lnTo>
                <a:lnTo>
                  <a:pt x="6477558" y="7823029"/>
                </a:lnTo>
                <a:lnTo>
                  <a:pt x="0" y="782302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606534" y="825037"/>
            <a:ext cx="9074931" cy="1130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3"/>
              </a:lnSpc>
            </a:pPr>
            <a:r>
              <a:rPr lang="en-US" sz="4447" b="true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Diagr</a:t>
            </a:r>
            <a:r>
              <a:rPr lang="en-US" b="true" sz="4447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ama de bloques técnico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571653">
            <a:off x="16043607" y="1949665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21875" y="6598087"/>
            <a:ext cx="3969133" cy="4512515"/>
          </a:xfrm>
          <a:custGeom>
            <a:avLst/>
            <a:gdLst/>
            <a:ahLst/>
            <a:cxnLst/>
            <a:rect r="r" b="b" t="t" l="l"/>
            <a:pathLst>
              <a:path h="4512515" w="3969133">
                <a:moveTo>
                  <a:pt x="0" y="0"/>
                </a:moveTo>
                <a:lnTo>
                  <a:pt x="3969132" y="0"/>
                </a:lnTo>
                <a:lnTo>
                  <a:pt x="3969132" y="4512515"/>
                </a:lnTo>
                <a:lnTo>
                  <a:pt x="0" y="4512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11425" y="6598087"/>
            <a:ext cx="3280251" cy="4108874"/>
          </a:xfrm>
          <a:custGeom>
            <a:avLst/>
            <a:gdLst/>
            <a:ahLst/>
            <a:cxnLst/>
            <a:rect r="r" b="b" t="t" l="l"/>
            <a:pathLst>
              <a:path h="4108874" w="3280251">
                <a:moveTo>
                  <a:pt x="0" y="0"/>
                </a:moveTo>
                <a:lnTo>
                  <a:pt x="3280250" y="0"/>
                </a:lnTo>
                <a:lnTo>
                  <a:pt x="3280250" y="4108874"/>
                </a:lnTo>
                <a:lnTo>
                  <a:pt x="0" y="41088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921125">
            <a:off x="13313817" y="-1458418"/>
            <a:ext cx="5550511" cy="5550511"/>
          </a:xfrm>
          <a:custGeom>
            <a:avLst/>
            <a:gdLst/>
            <a:ahLst/>
            <a:cxnLst/>
            <a:rect r="r" b="b" t="t" l="l"/>
            <a:pathLst>
              <a:path h="5550511" w="5550511">
                <a:moveTo>
                  <a:pt x="0" y="0"/>
                </a:moveTo>
                <a:lnTo>
                  <a:pt x="5550511" y="0"/>
                </a:lnTo>
                <a:lnTo>
                  <a:pt x="5550511" y="5550511"/>
                </a:lnTo>
                <a:lnTo>
                  <a:pt x="0" y="555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-710214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571653">
            <a:off x="-3050082" y="2465162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601885" y="2218986"/>
            <a:ext cx="13084230" cy="7359879"/>
          </a:xfrm>
          <a:custGeom>
            <a:avLst/>
            <a:gdLst/>
            <a:ahLst/>
            <a:cxnLst/>
            <a:rect r="r" b="b" t="t" l="l"/>
            <a:pathLst>
              <a:path h="7359879" w="13084230">
                <a:moveTo>
                  <a:pt x="0" y="0"/>
                </a:moveTo>
                <a:lnTo>
                  <a:pt x="13084230" y="0"/>
                </a:lnTo>
                <a:lnTo>
                  <a:pt x="13084230" y="7359880"/>
                </a:lnTo>
                <a:lnTo>
                  <a:pt x="0" y="73598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606534" y="1367962"/>
            <a:ext cx="9074931" cy="587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3"/>
              </a:lnSpc>
            </a:pPr>
            <a:r>
              <a:rPr lang="en-US" sz="4447" b="true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Diagr</a:t>
            </a:r>
            <a:r>
              <a:rPr lang="en-US" b="true" sz="4447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ama GANTT</a:t>
            </a: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571653">
            <a:off x="16043607" y="1949665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21875" y="6598087"/>
            <a:ext cx="3969133" cy="4512515"/>
          </a:xfrm>
          <a:custGeom>
            <a:avLst/>
            <a:gdLst/>
            <a:ahLst/>
            <a:cxnLst/>
            <a:rect r="r" b="b" t="t" l="l"/>
            <a:pathLst>
              <a:path h="4512515" w="3969133">
                <a:moveTo>
                  <a:pt x="0" y="0"/>
                </a:moveTo>
                <a:lnTo>
                  <a:pt x="3969132" y="0"/>
                </a:lnTo>
                <a:lnTo>
                  <a:pt x="3969132" y="4512515"/>
                </a:lnTo>
                <a:lnTo>
                  <a:pt x="0" y="4512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11425" y="6598087"/>
            <a:ext cx="3280251" cy="4108874"/>
          </a:xfrm>
          <a:custGeom>
            <a:avLst/>
            <a:gdLst/>
            <a:ahLst/>
            <a:cxnLst/>
            <a:rect r="r" b="b" t="t" l="l"/>
            <a:pathLst>
              <a:path h="4108874" w="3280251">
                <a:moveTo>
                  <a:pt x="0" y="0"/>
                </a:moveTo>
                <a:lnTo>
                  <a:pt x="3280250" y="0"/>
                </a:lnTo>
                <a:lnTo>
                  <a:pt x="3280250" y="4108874"/>
                </a:lnTo>
                <a:lnTo>
                  <a:pt x="0" y="41088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571653">
            <a:off x="-3050082" y="2465162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6" id="6"/>
          <p:cNvGraphicFramePr/>
          <p:nvPr/>
        </p:nvGraphicFramePr>
        <p:xfrm>
          <a:off x="3012789" y="1656519"/>
          <a:ext cx="5657850" cy="5657850"/>
        </p:xfrm>
        <a:graphic>
          <a:graphicData uri="http://schemas.openxmlformats.org/presentationml/2006/ole">
            <p:oleObj imgW="6781800" imgH="67818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2395443" y="751670"/>
            <a:ext cx="13878434" cy="90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 b="true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Componentes principales</a:t>
            </a: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571653">
            <a:off x="16043607" y="1949665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21875" y="6598087"/>
            <a:ext cx="3969133" cy="4512515"/>
          </a:xfrm>
          <a:custGeom>
            <a:avLst/>
            <a:gdLst/>
            <a:ahLst/>
            <a:cxnLst/>
            <a:rect r="r" b="b" t="t" l="l"/>
            <a:pathLst>
              <a:path h="4512515" w="3969133">
                <a:moveTo>
                  <a:pt x="0" y="0"/>
                </a:moveTo>
                <a:lnTo>
                  <a:pt x="3969132" y="0"/>
                </a:lnTo>
                <a:lnTo>
                  <a:pt x="3969132" y="4512515"/>
                </a:lnTo>
                <a:lnTo>
                  <a:pt x="0" y="4512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11425" y="6598087"/>
            <a:ext cx="3280251" cy="4108874"/>
          </a:xfrm>
          <a:custGeom>
            <a:avLst/>
            <a:gdLst/>
            <a:ahLst/>
            <a:cxnLst/>
            <a:rect r="r" b="b" t="t" l="l"/>
            <a:pathLst>
              <a:path h="4108874" w="3280251">
                <a:moveTo>
                  <a:pt x="0" y="0"/>
                </a:moveTo>
                <a:lnTo>
                  <a:pt x="3280250" y="0"/>
                </a:lnTo>
                <a:lnTo>
                  <a:pt x="3280250" y="4108874"/>
                </a:lnTo>
                <a:lnTo>
                  <a:pt x="0" y="41088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571653">
            <a:off x="-3050082" y="2465162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6" id="6"/>
          <p:cNvGraphicFramePr/>
          <p:nvPr/>
        </p:nvGraphicFramePr>
        <p:xfrm>
          <a:off x="3709170" y="2905099"/>
          <a:ext cx="3771900" cy="5657850"/>
        </p:xfrm>
        <a:graphic>
          <a:graphicData uri="http://schemas.openxmlformats.org/presentationml/2006/ole">
            <p:oleObj imgW="4902200" imgH="67818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2809313" y="1162050"/>
            <a:ext cx="8458170" cy="1743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 b="true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Herramientas de desarrollo</a:t>
            </a: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69408" y="771544"/>
            <a:ext cx="10949183" cy="868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5"/>
              </a:lnSpc>
            </a:pPr>
            <a:r>
              <a:rPr lang="en-US" sz="6582" b="true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Presup</a:t>
            </a:r>
            <a:r>
              <a:rPr lang="en-US" b="true" sz="6582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uesto estimado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2571653">
            <a:off x="16043607" y="1949665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21875" y="6598087"/>
            <a:ext cx="3969133" cy="4512515"/>
          </a:xfrm>
          <a:custGeom>
            <a:avLst/>
            <a:gdLst/>
            <a:ahLst/>
            <a:cxnLst/>
            <a:rect r="r" b="b" t="t" l="l"/>
            <a:pathLst>
              <a:path h="4512515" w="3969133">
                <a:moveTo>
                  <a:pt x="0" y="0"/>
                </a:moveTo>
                <a:lnTo>
                  <a:pt x="3969132" y="0"/>
                </a:lnTo>
                <a:lnTo>
                  <a:pt x="3969132" y="4512515"/>
                </a:lnTo>
                <a:lnTo>
                  <a:pt x="0" y="4512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11425" y="6598087"/>
            <a:ext cx="3280251" cy="4108874"/>
          </a:xfrm>
          <a:custGeom>
            <a:avLst/>
            <a:gdLst/>
            <a:ahLst/>
            <a:cxnLst/>
            <a:rect r="r" b="b" t="t" l="l"/>
            <a:pathLst>
              <a:path h="4108874" w="3280251">
                <a:moveTo>
                  <a:pt x="0" y="0"/>
                </a:moveTo>
                <a:lnTo>
                  <a:pt x="3280250" y="0"/>
                </a:lnTo>
                <a:lnTo>
                  <a:pt x="3280250" y="4108874"/>
                </a:lnTo>
                <a:lnTo>
                  <a:pt x="0" y="41088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921125">
            <a:off x="12766498" y="-1741514"/>
            <a:ext cx="5550511" cy="5550511"/>
          </a:xfrm>
          <a:custGeom>
            <a:avLst/>
            <a:gdLst/>
            <a:ahLst/>
            <a:cxnLst/>
            <a:rect r="r" b="b" t="t" l="l"/>
            <a:pathLst>
              <a:path h="5550511" w="5550511">
                <a:moveTo>
                  <a:pt x="0" y="0"/>
                </a:moveTo>
                <a:lnTo>
                  <a:pt x="5550511" y="0"/>
                </a:lnTo>
                <a:lnTo>
                  <a:pt x="5550511" y="5550511"/>
                </a:lnTo>
                <a:lnTo>
                  <a:pt x="0" y="555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323543" y="-810104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571653">
            <a:off x="-3050082" y="2465162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9" id="9"/>
          <p:cNvGraphicFramePr/>
          <p:nvPr/>
        </p:nvGraphicFramePr>
        <p:xfrm>
          <a:off x="3898721" y="1970940"/>
          <a:ext cx="7543800" cy="7543800"/>
        </p:xfrm>
        <a:graphic>
          <a:graphicData uri="http://schemas.openxmlformats.org/presentationml/2006/ole">
            <p:oleObj imgW="9042400" imgH="9042400" r:id="rId11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68825" y="751167"/>
            <a:ext cx="13096334" cy="660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0"/>
              </a:lnSpc>
            </a:pPr>
            <a:r>
              <a:rPr lang="en-US" sz="5000" b="true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Avances Actuales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2571653">
            <a:off x="16043607" y="1949665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21875" y="6598087"/>
            <a:ext cx="3969133" cy="4512515"/>
          </a:xfrm>
          <a:custGeom>
            <a:avLst/>
            <a:gdLst/>
            <a:ahLst/>
            <a:cxnLst/>
            <a:rect r="r" b="b" t="t" l="l"/>
            <a:pathLst>
              <a:path h="4512515" w="3969133">
                <a:moveTo>
                  <a:pt x="0" y="0"/>
                </a:moveTo>
                <a:lnTo>
                  <a:pt x="3969132" y="0"/>
                </a:lnTo>
                <a:lnTo>
                  <a:pt x="3969132" y="4512515"/>
                </a:lnTo>
                <a:lnTo>
                  <a:pt x="0" y="4512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11425" y="6598087"/>
            <a:ext cx="3280251" cy="4108874"/>
          </a:xfrm>
          <a:custGeom>
            <a:avLst/>
            <a:gdLst/>
            <a:ahLst/>
            <a:cxnLst/>
            <a:rect r="r" b="b" t="t" l="l"/>
            <a:pathLst>
              <a:path h="4108874" w="3280251">
                <a:moveTo>
                  <a:pt x="0" y="0"/>
                </a:moveTo>
                <a:lnTo>
                  <a:pt x="3280250" y="0"/>
                </a:lnTo>
                <a:lnTo>
                  <a:pt x="3280250" y="4108874"/>
                </a:lnTo>
                <a:lnTo>
                  <a:pt x="0" y="41088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921125">
            <a:off x="12766498" y="-1741514"/>
            <a:ext cx="5550511" cy="5550511"/>
          </a:xfrm>
          <a:custGeom>
            <a:avLst/>
            <a:gdLst/>
            <a:ahLst/>
            <a:cxnLst/>
            <a:rect r="r" b="b" t="t" l="l"/>
            <a:pathLst>
              <a:path h="5550511" w="5550511">
                <a:moveTo>
                  <a:pt x="0" y="0"/>
                </a:moveTo>
                <a:lnTo>
                  <a:pt x="5550511" y="0"/>
                </a:lnTo>
                <a:lnTo>
                  <a:pt x="5550511" y="5550511"/>
                </a:lnTo>
                <a:lnTo>
                  <a:pt x="0" y="555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-710214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571653">
            <a:off x="-3050082" y="2465162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166210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0" y="0"/>
                </a:moveTo>
                <a:lnTo>
                  <a:pt x="4647276" y="0"/>
                </a:lnTo>
                <a:lnTo>
                  <a:pt x="4647276" y="3099786"/>
                </a:lnTo>
                <a:lnTo>
                  <a:pt x="0" y="30997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3281798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4647276" y="0"/>
                </a:moveTo>
                <a:lnTo>
                  <a:pt x="0" y="0"/>
                </a:lnTo>
                <a:lnTo>
                  <a:pt x="0" y="3099786"/>
                </a:lnTo>
                <a:lnTo>
                  <a:pt x="4647276" y="3099786"/>
                </a:lnTo>
                <a:lnTo>
                  <a:pt x="4647276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39749" y="2482062"/>
            <a:ext cx="7238619" cy="8229600"/>
          </a:xfrm>
          <a:custGeom>
            <a:avLst/>
            <a:gdLst/>
            <a:ahLst/>
            <a:cxnLst/>
            <a:rect r="r" b="b" t="t" l="l"/>
            <a:pathLst>
              <a:path h="8229600" w="7238619">
                <a:moveTo>
                  <a:pt x="0" y="0"/>
                </a:moveTo>
                <a:lnTo>
                  <a:pt x="7238619" y="0"/>
                </a:lnTo>
                <a:lnTo>
                  <a:pt x="723861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02861" y="4112027"/>
            <a:ext cx="5054215" cy="6330958"/>
          </a:xfrm>
          <a:custGeom>
            <a:avLst/>
            <a:gdLst/>
            <a:ahLst/>
            <a:cxnLst/>
            <a:rect r="r" b="b" t="t" l="l"/>
            <a:pathLst>
              <a:path h="6330958" w="5054215">
                <a:moveTo>
                  <a:pt x="0" y="0"/>
                </a:moveTo>
                <a:lnTo>
                  <a:pt x="5054215" y="0"/>
                </a:lnTo>
                <a:lnTo>
                  <a:pt x="5054215" y="6330958"/>
                </a:lnTo>
                <a:lnTo>
                  <a:pt x="0" y="6330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402607" y="3061837"/>
            <a:ext cx="11482787" cy="4553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26"/>
              </a:lnSpc>
            </a:pPr>
            <a:r>
              <a:rPr lang="en-US" sz="17965" b="true">
                <a:solidFill>
                  <a:srgbClr val="143F87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Thank You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3921125">
            <a:off x="-1351009" y="-1529351"/>
            <a:ext cx="5550511" cy="5550511"/>
          </a:xfrm>
          <a:custGeom>
            <a:avLst/>
            <a:gdLst/>
            <a:ahLst/>
            <a:cxnLst/>
            <a:rect r="r" b="b" t="t" l="l"/>
            <a:pathLst>
              <a:path h="5550511" w="5550511">
                <a:moveTo>
                  <a:pt x="0" y="0"/>
                </a:moveTo>
                <a:lnTo>
                  <a:pt x="5550511" y="0"/>
                </a:lnTo>
                <a:lnTo>
                  <a:pt x="5550511" y="5550511"/>
                </a:lnTo>
                <a:lnTo>
                  <a:pt x="0" y="55505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571653">
            <a:off x="6899607" y="-3050983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112785" y="8078812"/>
            <a:ext cx="4062430" cy="4114800"/>
          </a:xfrm>
          <a:custGeom>
            <a:avLst/>
            <a:gdLst/>
            <a:ahLst/>
            <a:cxnLst/>
            <a:rect r="r" b="b" t="t" l="l"/>
            <a:pathLst>
              <a:path h="4114800" w="406243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80430" y="-1632738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DAHYUPbq32A</dc:identifier>
  <dcterms:modified xsi:type="dcterms:W3CDTF">2011-08-01T06:04:30Z</dcterms:modified>
  <cp:revision>1</cp:revision>
  <dc:title>BRAZO ROBOTICO PICK AND PLACE</dc:title>
</cp:coreProperties>
</file>